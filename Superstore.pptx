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 id="263" r:id="rId8"/>
    <p:sldId id="265" r:id="rId9"/>
    <p:sldId id="266" r:id="rId10"/>
    <p:sldId id="267" r:id="rId11"/>
    <p:sldId id="268" r:id="rId12"/>
    <p:sldId id="270" r:id="rId13"/>
    <p:sldId id="275" r:id="rId14"/>
    <p:sldId id="271" r:id="rId15"/>
    <p:sldId id="272" r:id="rId16"/>
    <p:sldId id="273" r:id="rId17"/>
    <p:sldId id="274" r:id="rId18"/>
    <p:sldId id="26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912"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81185-1BCC-9E25-4033-CCF095EE9BF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D0445D5-0691-6BC7-21B4-4EA2DB1713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270A74B-FF48-4E0C-68F4-2331E7B378E5}"/>
              </a:ext>
            </a:extLst>
          </p:cNvPr>
          <p:cNvSpPr>
            <a:spLocks noGrp="1"/>
          </p:cNvSpPr>
          <p:nvPr>
            <p:ph type="dt" sz="half" idx="10"/>
          </p:nvPr>
        </p:nvSpPr>
        <p:spPr/>
        <p:txBody>
          <a:bodyPr/>
          <a:lstStyle/>
          <a:p>
            <a:fld id="{F315B691-4401-4F6C-9B87-0382C53D9880}" type="datetimeFigureOut">
              <a:rPr lang="en-IN" smtClean="0"/>
              <a:t>04-05-2026</a:t>
            </a:fld>
            <a:endParaRPr lang="en-IN"/>
          </a:p>
        </p:txBody>
      </p:sp>
      <p:sp>
        <p:nvSpPr>
          <p:cNvPr id="5" name="Footer Placeholder 4">
            <a:extLst>
              <a:ext uri="{FF2B5EF4-FFF2-40B4-BE49-F238E27FC236}">
                <a16:creationId xmlns:a16="http://schemas.microsoft.com/office/drawing/2014/main" id="{3625F6BA-0F8B-408E-862C-9A81FCD65F6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5A742C7-6BBE-69B2-F48E-BD7AA7F2A931}"/>
              </a:ext>
            </a:extLst>
          </p:cNvPr>
          <p:cNvSpPr>
            <a:spLocks noGrp="1"/>
          </p:cNvSpPr>
          <p:nvPr>
            <p:ph type="sldNum" sz="quarter" idx="12"/>
          </p:nvPr>
        </p:nvSpPr>
        <p:spPr/>
        <p:txBody>
          <a:bodyPr/>
          <a:lstStyle/>
          <a:p>
            <a:fld id="{78CFD2EE-5EA9-4522-ACFF-67A1EC1F4B84}" type="slidenum">
              <a:rPr lang="en-IN" smtClean="0"/>
              <a:t>‹#›</a:t>
            </a:fld>
            <a:endParaRPr lang="en-IN"/>
          </a:p>
        </p:txBody>
      </p:sp>
    </p:spTree>
    <p:extLst>
      <p:ext uri="{BB962C8B-B14F-4D97-AF65-F5344CB8AC3E}">
        <p14:creationId xmlns:p14="http://schemas.microsoft.com/office/powerpoint/2010/main" val="3890743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67036-707D-D364-8446-9541D71C46B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CFF4B12-D3E8-41EB-5548-0E6157B2674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79BF65-1732-ACFD-5D85-323FA54D9E01}"/>
              </a:ext>
            </a:extLst>
          </p:cNvPr>
          <p:cNvSpPr>
            <a:spLocks noGrp="1"/>
          </p:cNvSpPr>
          <p:nvPr>
            <p:ph type="dt" sz="half" idx="10"/>
          </p:nvPr>
        </p:nvSpPr>
        <p:spPr/>
        <p:txBody>
          <a:bodyPr/>
          <a:lstStyle/>
          <a:p>
            <a:fld id="{F315B691-4401-4F6C-9B87-0382C53D9880}" type="datetimeFigureOut">
              <a:rPr lang="en-IN" smtClean="0"/>
              <a:t>04-05-2026</a:t>
            </a:fld>
            <a:endParaRPr lang="en-IN"/>
          </a:p>
        </p:txBody>
      </p:sp>
      <p:sp>
        <p:nvSpPr>
          <p:cNvPr id="5" name="Footer Placeholder 4">
            <a:extLst>
              <a:ext uri="{FF2B5EF4-FFF2-40B4-BE49-F238E27FC236}">
                <a16:creationId xmlns:a16="http://schemas.microsoft.com/office/drawing/2014/main" id="{34387D17-B732-4193-A121-32FAA7E113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00F8379-B55D-0B98-9926-DAF9012E9061}"/>
              </a:ext>
            </a:extLst>
          </p:cNvPr>
          <p:cNvSpPr>
            <a:spLocks noGrp="1"/>
          </p:cNvSpPr>
          <p:nvPr>
            <p:ph type="sldNum" sz="quarter" idx="12"/>
          </p:nvPr>
        </p:nvSpPr>
        <p:spPr/>
        <p:txBody>
          <a:bodyPr/>
          <a:lstStyle/>
          <a:p>
            <a:fld id="{78CFD2EE-5EA9-4522-ACFF-67A1EC1F4B84}" type="slidenum">
              <a:rPr lang="en-IN" smtClean="0"/>
              <a:t>‹#›</a:t>
            </a:fld>
            <a:endParaRPr lang="en-IN"/>
          </a:p>
        </p:txBody>
      </p:sp>
    </p:spTree>
    <p:extLst>
      <p:ext uri="{BB962C8B-B14F-4D97-AF65-F5344CB8AC3E}">
        <p14:creationId xmlns:p14="http://schemas.microsoft.com/office/powerpoint/2010/main" val="921278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037AA-59CD-A3D0-79F6-74DAA0DF9F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E56A6E3-F29B-38D6-4B4A-2A34DB578AD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6392D9A-C092-52E5-F1E7-382DA4A987B9}"/>
              </a:ext>
            </a:extLst>
          </p:cNvPr>
          <p:cNvSpPr>
            <a:spLocks noGrp="1"/>
          </p:cNvSpPr>
          <p:nvPr>
            <p:ph type="dt" sz="half" idx="10"/>
          </p:nvPr>
        </p:nvSpPr>
        <p:spPr/>
        <p:txBody>
          <a:bodyPr/>
          <a:lstStyle/>
          <a:p>
            <a:fld id="{F315B691-4401-4F6C-9B87-0382C53D9880}" type="datetimeFigureOut">
              <a:rPr lang="en-IN" smtClean="0"/>
              <a:t>04-05-2026</a:t>
            </a:fld>
            <a:endParaRPr lang="en-IN"/>
          </a:p>
        </p:txBody>
      </p:sp>
      <p:sp>
        <p:nvSpPr>
          <p:cNvPr id="5" name="Footer Placeholder 4">
            <a:extLst>
              <a:ext uri="{FF2B5EF4-FFF2-40B4-BE49-F238E27FC236}">
                <a16:creationId xmlns:a16="http://schemas.microsoft.com/office/drawing/2014/main" id="{61F00EB7-1A73-A94A-2B8B-5664B95F272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890B487-DCAE-088F-F5DC-D0BBC3525865}"/>
              </a:ext>
            </a:extLst>
          </p:cNvPr>
          <p:cNvSpPr>
            <a:spLocks noGrp="1"/>
          </p:cNvSpPr>
          <p:nvPr>
            <p:ph type="sldNum" sz="quarter" idx="12"/>
          </p:nvPr>
        </p:nvSpPr>
        <p:spPr/>
        <p:txBody>
          <a:bodyPr/>
          <a:lstStyle/>
          <a:p>
            <a:fld id="{78CFD2EE-5EA9-4522-ACFF-67A1EC1F4B84}" type="slidenum">
              <a:rPr lang="en-IN" smtClean="0"/>
              <a:t>‹#›</a:t>
            </a:fld>
            <a:endParaRPr lang="en-IN"/>
          </a:p>
        </p:txBody>
      </p:sp>
    </p:spTree>
    <p:extLst>
      <p:ext uri="{BB962C8B-B14F-4D97-AF65-F5344CB8AC3E}">
        <p14:creationId xmlns:p14="http://schemas.microsoft.com/office/powerpoint/2010/main" val="6490177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D6733-5260-6770-35AD-A15B4A8D35C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50BF084-B8E4-2CC0-B038-895F06D7D6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AF2669F-7521-350F-DD37-198CDB6C77F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4E32945-B0B0-C0AF-F322-A62705878CBE}"/>
              </a:ext>
            </a:extLst>
          </p:cNvPr>
          <p:cNvSpPr>
            <a:spLocks noGrp="1"/>
          </p:cNvSpPr>
          <p:nvPr>
            <p:ph type="dt" sz="half" idx="10"/>
          </p:nvPr>
        </p:nvSpPr>
        <p:spPr/>
        <p:txBody>
          <a:bodyPr/>
          <a:lstStyle/>
          <a:p>
            <a:fld id="{F315B691-4401-4F6C-9B87-0382C53D9880}" type="datetimeFigureOut">
              <a:rPr lang="en-IN" smtClean="0"/>
              <a:t>04-05-2026</a:t>
            </a:fld>
            <a:endParaRPr lang="en-IN"/>
          </a:p>
        </p:txBody>
      </p:sp>
      <p:sp>
        <p:nvSpPr>
          <p:cNvPr id="6" name="Footer Placeholder 5">
            <a:extLst>
              <a:ext uri="{FF2B5EF4-FFF2-40B4-BE49-F238E27FC236}">
                <a16:creationId xmlns:a16="http://schemas.microsoft.com/office/drawing/2014/main" id="{ADE9DD37-37C8-F94E-A5A6-5C1E6C07A72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4217B8E-E558-CF2B-AEB4-71BA4E15A02B}"/>
              </a:ext>
            </a:extLst>
          </p:cNvPr>
          <p:cNvSpPr>
            <a:spLocks noGrp="1"/>
          </p:cNvSpPr>
          <p:nvPr>
            <p:ph type="sldNum" sz="quarter" idx="12"/>
          </p:nvPr>
        </p:nvSpPr>
        <p:spPr/>
        <p:txBody>
          <a:bodyPr/>
          <a:lstStyle/>
          <a:p>
            <a:fld id="{78CFD2EE-5EA9-4522-ACFF-67A1EC1F4B84}" type="slidenum">
              <a:rPr lang="en-IN" smtClean="0"/>
              <a:t>‹#›</a:t>
            </a:fld>
            <a:endParaRPr lang="en-IN"/>
          </a:p>
        </p:txBody>
      </p:sp>
    </p:spTree>
    <p:extLst>
      <p:ext uri="{BB962C8B-B14F-4D97-AF65-F5344CB8AC3E}">
        <p14:creationId xmlns:p14="http://schemas.microsoft.com/office/powerpoint/2010/main" val="17168808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CE0BD-2CE9-4FB3-62F5-D2ADC741149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37E02A5-24CF-964B-987B-98E93D7D5B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C5BEEF7-D61E-2917-8934-CBE5C724543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F9807FE-869B-2576-C27E-B4EDCA7B17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1F4E94-09E8-43A7-488F-9992EC6DBFF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03C1EA1-694D-EDDB-84C6-78541F745716}"/>
              </a:ext>
            </a:extLst>
          </p:cNvPr>
          <p:cNvSpPr>
            <a:spLocks noGrp="1"/>
          </p:cNvSpPr>
          <p:nvPr>
            <p:ph type="dt" sz="half" idx="10"/>
          </p:nvPr>
        </p:nvSpPr>
        <p:spPr/>
        <p:txBody>
          <a:bodyPr/>
          <a:lstStyle/>
          <a:p>
            <a:fld id="{F315B691-4401-4F6C-9B87-0382C53D9880}" type="datetimeFigureOut">
              <a:rPr lang="en-IN" smtClean="0"/>
              <a:t>04-05-2026</a:t>
            </a:fld>
            <a:endParaRPr lang="en-IN"/>
          </a:p>
        </p:txBody>
      </p:sp>
      <p:sp>
        <p:nvSpPr>
          <p:cNvPr id="8" name="Footer Placeholder 7">
            <a:extLst>
              <a:ext uri="{FF2B5EF4-FFF2-40B4-BE49-F238E27FC236}">
                <a16:creationId xmlns:a16="http://schemas.microsoft.com/office/drawing/2014/main" id="{E77EEF98-ABD7-3C4A-15B6-3ED338F1643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19DF89D-F970-1DDA-EA3E-84681ED7FBD7}"/>
              </a:ext>
            </a:extLst>
          </p:cNvPr>
          <p:cNvSpPr>
            <a:spLocks noGrp="1"/>
          </p:cNvSpPr>
          <p:nvPr>
            <p:ph type="sldNum" sz="quarter" idx="12"/>
          </p:nvPr>
        </p:nvSpPr>
        <p:spPr/>
        <p:txBody>
          <a:bodyPr/>
          <a:lstStyle/>
          <a:p>
            <a:fld id="{78CFD2EE-5EA9-4522-ACFF-67A1EC1F4B84}" type="slidenum">
              <a:rPr lang="en-IN" smtClean="0"/>
              <a:t>‹#›</a:t>
            </a:fld>
            <a:endParaRPr lang="en-IN"/>
          </a:p>
        </p:txBody>
      </p:sp>
    </p:spTree>
    <p:extLst>
      <p:ext uri="{BB962C8B-B14F-4D97-AF65-F5344CB8AC3E}">
        <p14:creationId xmlns:p14="http://schemas.microsoft.com/office/powerpoint/2010/main" val="8494716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B0B67-3BCB-699D-C43D-413BDFF2557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D9EC40F-857E-CAFF-8407-70D47D32A3BA}"/>
              </a:ext>
            </a:extLst>
          </p:cNvPr>
          <p:cNvSpPr>
            <a:spLocks noGrp="1"/>
          </p:cNvSpPr>
          <p:nvPr>
            <p:ph type="dt" sz="half" idx="10"/>
          </p:nvPr>
        </p:nvSpPr>
        <p:spPr/>
        <p:txBody>
          <a:bodyPr/>
          <a:lstStyle/>
          <a:p>
            <a:fld id="{F315B691-4401-4F6C-9B87-0382C53D9880}" type="datetimeFigureOut">
              <a:rPr lang="en-IN" smtClean="0"/>
              <a:t>04-05-2026</a:t>
            </a:fld>
            <a:endParaRPr lang="en-IN"/>
          </a:p>
        </p:txBody>
      </p:sp>
      <p:sp>
        <p:nvSpPr>
          <p:cNvPr id="4" name="Footer Placeholder 3">
            <a:extLst>
              <a:ext uri="{FF2B5EF4-FFF2-40B4-BE49-F238E27FC236}">
                <a16:creationId xmlns:a16="http://schemas.microsoft.com/office/drawing/2014/main" id="{AC5C4419-212E-0FCE-ACAB-F4BD7546B99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9A9853D-4410-CFE8-77A1-1FF25EFD4DF6}"/>
              </a:ext>
            </a:extLst>
          </p:cNvPr>
          <p:cNvSpPr>
            <a:spLocks noGrp="1"/>
          </p:cNvSpPr>
          <p:nvPr>
            <p:ph type="sldNum" sz="quarter" idx="12"/>
          </p:nvPr>
        </p:nvSpPr>
        <p:spPr/>
        <p:txBody>
          <a:bodyPr/>
          <a:lstStyle/>
          <a:p>
            <a:fld id="{78CFD2EE-5EA9-4522-ACFF-67A1EC1F4B84}" type="slidenum">
              <a:rPr lang="en-IN" smtClean="0"/>
              <a:t>‹#›</a:t>
            </a:fld>
            <a:endParaRPr lang="en-IN"/>
          </a:p>
        </p:txBody>
      </p:sp>
    </p:spTree>
    <p:extLst>
      <p:ext uri="{BB962C8B-B14F-4D97-AF65-F5344CB8AC3E}">
        <p14:creationId xmlns:p14="http://schemas.microsoft.com/office/powerpoint/2010/main" val="2452228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B20A4FE-B5C0-BECD-2751-A5FF6209C5F4}"/>
              </a:ext>
            </a:extLst>
          </p:cNvPr>
          <p:cNvSpPr>
            <a:spLocks noGrp="1"/>
          </p:cNvSpPr>
          <p:nvPr>
            <p:ph type="dt" sz="half" idx="10"/>
          </p:nvPr>
        </p:nvSpPr>
        <p:spPr/>
        <p:txBody>
          <a:bodyPr/>
          <a:lstStyle/>
          <a:p>
            <a:fld id="{F315B691-4401-4F6C-9B87-0382C53D9880}" type="datetimeFigureOut">
              <a:rPr lang="en-IN" smtClean="0"/>
              <a:t>04-05-2026</a:t>
            </a:fld>
            <a:endParaRPr lang="en-IN"/>
          </a:p>
        </p:txBody>
      </p:sp>
      <p:sp>
        <p:nvSpPr>
          <p:cNvPr id="3" name="Footer Placeholder 2">
            <a:extLst>
              <a:ext uri="{FF2B5EF4-FFF2-40B4-BE49-F238E27FC236}">
                <a16:creationId xmlns:a16="http://schemas.microsoft.com/office/drawing/2014/main" id="{316E9B80-6D12-877D-A522-4CB31E6C4C6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2A5B5A8-01BA-27B5-DFC9-F67EEB56D1E6}"/>
              </a:ext>
            </a:extLst>
          </p:cNvPr>
          <p:cNvSpPr>
            <a:spLocks noGrp="1"/>
          </p:cNvSpPr>
          <p:nvPr>
            <p:ph type="sldNum" sz="quarter" idx="12"/>
          </p:nvPr>
        </p:nvSpPr>
        <p:spPr/>
        <p:txBody>
          <a:bodyPr/>
          <a:lstStyle/>
          <a:p>
            <a:fld id="{78CFD2EE-5EA9-4522-ACFF-67A1EC1F4B84}" type="slidenum">
              <a:rPr lang="en-IN" smtClean="0"/>
              <a:t>‹#›</a:t>
            </a:fld>
            <a:endParaRPr lang="en-IN"/>
          </a:p>
        </p:txBody>
      </p:sp>
    </p:spTree>
    <p:extLst>
      <p:ext uri="{BB962C8B-B14F-4D97-AF65-F5344CB8AC3E}">
        <p14:creationId xmlns:p14="http://schemas.microsoft.com/office/powerpoint/2010/main" val="37685358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7737F-D7C4-6700-5433-8758AA72ED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FEAEE3E-CAAD-A2D3-DE1B-1037E5C720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30D086C-2C34-9426-A972-A239894DEA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77475B-C3E5-D3D4-DCEE-DFE024A4E09B}"/>
              </a:ext>
            </a:extLst>
          </p:cNvPr>
          <p:cNvSpPr>
            <a:spLocks noGrp="1"/>
          </p:cNvSpPr>
          <p:nvPr>
            <p:ph type="dt" sz="half" idx="10"/>
          </p:nvPr>
        </p:nvSpPr>
        <p:spPr/>
        <p:txBody>
          <a:bodyPr/>
          <a:lstStyle/>
          <a:p>
            <a:fld id="{F315B691-4401-4F6C-9B87-0382C53D9880}" type="datetimeFigureOut">
              <a:rPr lang="en-IN" smtClean="0"/>
              <a:t>04-05-2026</a:t>
            </a:fld>
            <a:endParaRPr lang="en-IN"/>
          </a:p>
        </p:txBody>
      </p:sp>
      <p:sp>
        <p:nvSpPr>
          <p:cNvPr id="6" name="Footer Placeholder 5">
            <a:extLst>
              <a:ext uri="{FF2B5EF4-FFF2-40B4-BE49-F238E27FC236}">
                <a16:creationId xmlns:a16="http://schemas.microsoft.com/office/drawing/2014/main" id="{FBA1C0EE-430E-3E0C-6341-91645B47B09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B6D37C4-663C-372B-8061-50F4DF4BFB4F}"/>
              </a:ext>
            </a:extLst>
          </p:cNvPr>
          <p:cNvSpPr>
            <a:spLocks noGrp="1"/>
          </p:cNvSpPr>
          <p:nvPr>
            <p:ph type="sldNum" sz="quarter" idx="12"/>
          </p:nvPr>
        </p:nvSpPr>
        <p:spPr/>
        <p:txBody>
          <a:bodyPr/>
          <a:lstStyle/>
          <a:p>
            <a:fld id="{78CFD2EE-5EA9-4522-ACFF-67A1EC1F4B84}" type="slidenum">
              <a:rPr lang="en-IN" smtClean="0"/>
              <a:t>‹#›</a:t>
            </a:fld>
            <a:endParaRPr lang="en-IN"/>
          </a:p>
        </p:txBody>
      </p:sp>
    </p:spTree>
    <p:extLst>
      <p:ext uri="{BB962C8B-B14F-4D97-AF65-F5344CB8AC3E}">
        <p14:creationId xmlns:p14="http://schemas.microsoft.com/office/powerpoint/2010/main" val="26383957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780B0-D5DB-07C3-BD6C-5E784F6373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58D0AC4-F4CE-86BC-E37D-95EDFF53B0F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5518928-4F11-9813-57E4-444034630E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C70CAE-1CE1-97E2-9111-716E2CD91372}"/>
              </a:ext>
            </a:extLst>
          </p:cNvPr>
          <p:cNvSpPr>
            <a:spLocks noGrp="1"/>
          </p:cNvSpPr>
          <p:nvPr>
            <p:ph type="dt" sz="half" idx="10"/>
          </p:nvPr>
        </p:nvSpPr>
        <p:spPr/>
        <p:txBody>
          <a:bodyPr/>
          <a:lstStyle/>
          <a:p>
            <a:fld id="{F315B691-4401-4F6C-9B87-0382C53D9880}" type="datetimeFigureOut">
              <a:rPr lang="en-IN" smtClean="0"/>
              <a:t>04-05-2026</a:t>
            </a:fld>
            <a:endParaRPr lang="en-IN"/>
          </a:p>
        </p:txBody>
      </p:sp>
      <p:sp>
        <p:nvSpPr>
          <p:cNvPr id="6" name="Footer Placeholder 5">
            <a:extLst>
              <a:ext uri="{FF2B5EF4-FFF2-40B4-BE49-F238E27FC236}">
                <a16:creationId xmlns:a16="http://schemas.microsoft.com/office/drawing/2014/main" id="{F067B894-0AEF-B1D5-FDE5-85EC7A80E2A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EFC548C-629B-B299-4FF6-23FAD9058E1F}"/>
              </a:ext>
            </a:extLst>
          </p:cNvPr>
          <p:cNvSpPr>
            <a:spLocks noGrp="1"/>
          </p:cNvSpPr>
          <p:nvPr>
            <p:ph type="sldNum" sz="quarter" idx="12"/>
          </p:nvPr>
        </p:nvSpPr>
        <p:spPr/>
        <p:txBody>
          <a:bodyPr/>
          <a:lstStyle/>
          <a:p>
            <a:fld id="{78CFD2EE-5EA9-4522-ACFF-67A1EC1F4B84}" type="slidenum">
              <a:rPr lang="en-IN" smtClean="0"/>
              <a:t>‹#›</a:t>
            </a:fld>
            <a:endParaRPr lang="en-IN"/>
          </a:p>
        </p:txBody>
      </p:sp>
    </p:spTree>
    <p:extLst>
      <p:ext uri="{BB962C8B-B14F-4D97-AF65-F5344CB8AC3E}">
        <p14:creationId xmlns:p14="http://schemas.microsoft.com/office/powerpoint/2010/main" val="3987036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24538-E088-B350-D7D2-BF509A11BA9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0F5BBFC-1E9D-9483-EBD9-024C89DDFEC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4606986-4B92-5960-C43B-97CD283EB658}"/>
              </a:ext>
            </a:extLst>
          </p:cNvPr>
          <p:cNvSpPr>
            <a:spLocks noGrp="1"/>
          </p:cNvSpPr>
          <p:nvPr>
            <p:ph type="dt" sz="half" idx="10"/>
          </p:nvPr>
        </p:nvSpPr>
        <p:spPr/>
        <p:txBody>
          <a:bodyPr/>
          <a:lstStyle/>
          <a:p>
            <a:fld id="{F315B691-4401-4F6C-9B87-0382C53D9880}" type="datetimeFigureOut">
              <a:rPr lang="en-IN" smtClean="0"/>
              <a:t>04-05-2026</a:t>
            </a:fld>
            <a:endParaRPr lang="en-IN"/>
          </a:p>
        </p:txBody>
      </p:sp>
      <p:sp>
        <p:nvSpPr>
          <p:cNvPr id="5" name="Footer Placeholder 4">
            <a:extLst>
              <a:ext uri="{FF2B5EF4-FFF2-40B4-BE49-F238E27FC236}">
                <a16:creationId xmlns:a16="http://schemas.microsoft.com/office/drawing/2014/main" id="{DCCB10B5-8F9A-60D6-7A35-439D0AA3C80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F382194-94FA-B12E-886E-1B57115111E3}"/>
              </a:ext>
            </a:extLst>
          </p:cNvPr>
          <p:cNvSpPr>
            <a:spLocks noGrp="1"/>
          </p:cNvSpPr>
          <p:nvPr>
            <p:ph type="sldNum" sz="quarter" idx="12"/>
          </p:nvPr>
        </p:nvSpPr>
        <p:spPr/>
        <p:txBody>
          <a:bodyPr/>
          <a:lstStyle/>
          <a:p>
            <a:fld id="{78CFD2EE-5EA9-4522-ACFF-67A1EC1F4B84}" type="slidenum">
              <a:rPr lang="en-IN" smtClean="0"/>
              <a:t>‹#›</a:t>
            </a:fld>
            <a:endParaRPr lang="en-IN"/>
          </a:p>
        </p:txBody>
      </p:sp>
    </p:spTree>
    <p:extLst>
      <p:ext uri="{BB962C8B-B14F-4D97-AF65-F5344CB8AC3E}">
        <p14:creationId xmlns:p14="http://schemas.microsoft.com/office/powerpoint/2010/main" val="18803141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F7BC91-3FFD-2011-8C02-9C00709F45A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E81B0BC-94EA-DF3F-F30A-8BABD91BA5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804FE3-5DAD-8813-22F9-9338E713F359}"/>
              </a:ext>
            </a:extLst>
          </p:cNvPr>
          <p:cNvSpPr>
            <a:spLocks noGrp="1"/>
          </p:cNvSpPr>
          <p:nvPr>
            <p:ph type="dt" sz="half" idx="10"/>
          </p:nvPr>
        </p:nvSpPr>
        <p:spPr/>
        <p:txBody>
          <a:bodyPr/>
          <a:lstStyle/>
          <a:p>
            <a:fld id="{F315B691-4401-4F6C-9B87-0382C53D9880}" type="datetimeFigureOut">
              <a:rPr lang="en-IN" smtClean="0"/>
              <a:t>04-05-2026</a:t>
            </a:fld>
            <a:endParaRPr lang="en-IN"/>
          </a:p>
        </p:txBody>
      </p:sp>
      <p:sp>
        <p:nvSpPr>
          <p:cNvPr id="5" name="Footer Placeholder 4">
            <a:extLst>
              <a:ext uri="{FF2B5EF4-FFF2-40B4-BE49-F238E27FC236}">
                <a16:creationId xmlns:a16="http://schemas.microsoft.com/office/drawing/2014/main" id="{FF75AB40-DF07-C8B3-404C-7D2DDB6EF91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181AD59-7FFC-F25A-CCD9-FBF161FDB2DF}"/>
              </a:ext>
            </a:extLst>
          </p:cNvPr>
          <p:cNvSpPr>
            <a:spLocks noGrp="1"/>
          </p:cNvSpPr>
          <p:nvPr>
            <p:ph type="sldNum" sz="quarter" idx="12"/>
          </p:nvPr>
        </p:nvSpPr>
        <p:spPr/>
        <p:txBody>
          <a:bodyPr/>
          <a:lstStyle/>
          <a:p>
            <a:fld id="{78CFD2EE-5EA9-4522-ACFF-67A1EC1F4B84}" type="slidenum">
              <a:rPr lang="en-IN" smtClean="0"/>
              <a:t>‹#›</a:t>
            </a:fld>
            <a:endParaRPr lang="en-IN"/>
          </a:p>
        </p:txBody>
      </p:sp>
    </p:spTree>
    <p:extLst>
      <p:ext uri="{BB962C8B-B14F-4D97-AF65-F5344CB8AC3E}">
        <p14:creationId xmlns:p14="http://schemas.microsoft.com/office/powerpoint/2010/main" val="4705715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39DD3A-AC38-1740-AB2F-C48EE226075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1AE57B8-F87A-6755-8F14-0997D198C0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79D81DE-B2D1-2F26-E65B-7FA5CCD1F81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315B691-4401-4F6C-9B87-0382C53D9880}" type="datetimeFigureOut">
              <a:rPr lang="en-IN" smtClean="0"/>
              <a:t>04-05-2026</a:t>
            </a:fld>
            <a:endParaRPr lang="en-IN"/>
          </a:p>
        </p:txBody>
      </p:sp>
      <p:sp>
        <p:nvSpPr>
          <p:cNvPr id="5" name="Footer Placeholder 4">
            <a:extLst>
              <a:ext uri="{FF2B5EF4-FFF2-40B4-BE49-F238E27FC236}">
                <a16:creationId xmlns:a16="http://schemas.microsoft.com/office/drawing/2014/main" id="{792BFF03-108C-A884-03E8-F3FAAC8E5FB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7D071599-355B-01BE-0244-CBA09750BF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8CFD2EE-5EA9-4522-ACFF-67A1EC1F4B84}" type="slidenum">
              <a:rPr lang="en-IN" smtClean="0"/>
              <a:t>‹#›</a:t>
            </a:fld>
            <a:endParaRPr lang="en-IN"/>
          </a:p>
        </p:txBody>
      </p:sp>
    </p:spTree>
    <p:extLst>
      <p:ext uri="{BB962C8B-B14F-4D97-AF65-F5344CB8AC3E}">
        <p14:creationId xmlns:p14="http://schemas.microsoft.com/office/powerpoint/2010/main" val="24361324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hyperlink" Target="https://www.kaggle.com/datasets/vivek468/superstore-dataset-final/code"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37A59-762B-7D21-2807-58CDBF683D70}"/>
              </a:ext>
            </a:extLst>
          </p:cNvPr>
          <p:cNvSpPr>
            <a:spLocks noGrp="1"/>
          </p:cNvSpPr>
          <p:nvPr>
            <p:ph type="ctrTitle"/>
          </p:nvPr>
        </p:nvSpPr>
        <p:spPr>
          <a:xfrm>
            <a:off x="1524000" y="406400"/>
            <a:ext cx="9144000" cy="2387600"/>
          </a:xfrm>
        </p:spPr>
        <p:txBody>
          <a:bodyPr/>
          <a:lstStyle/>
          <a:p>
            <a:r>
              <a:rPr lang="en-IN" dirty="0"/>
              <a:t>Superstore Sales Analysis</a:t>
            </a:r>
          </a:p>
        </p:txBody>
      </p:sp>
      <p:sp>
        <p:nvSpPr>
          <p:cNvPr id="3" name="Subtitle 2">
            <a:extLst>
              <a:ext uri="{FF2B5EF4-FFF2-40B4-BE49-F238E27FC236}">
                <a16:creationId xmlns:a16="http://schemas.microsoft.com/office/drawing/2014/main" id="{41D5303F-9478-4DA6-0935-D7DBF329CDE1}"/>
              </a:ext>
            </a:extLst>
          </p:cNvPr>
          <p:cNvSpPr>
            <a:spLocks noGrp="1"/>
          </p:cNvSpPr>
          <p:nvPr>
            <p:ph type="subTitle" idx="1"/>
          </p:nvPr>
        </p:nvSpPr>
        <p:spPr>
          <a:xfrm>
            <a:off x="1524000" y="3236120"/>
            <a:ext cx="9144000" cy="1655762"/>
          </a:xfrm>
        </p:spPr>
        <p:txBody>
          <a:bodyPr/>
          <a:lstStyle/>
          <a:p>
            <a:r>
              <a:rPr lang="en-IN" dirty="0"/>
              <a:t>Data Analyst Project</a:t>
            </a:r>
            <a:br>
              <a:rPr lang="en-IN" dirty="0"/>
            </a:br>
            <a:r>
              <a:rPr lang="en-IN" sz="2000" dirty="0"/>
              <a:t>Vishal Kumar</a:t>
            </a:r>
            <a:endParaRPr lang="en-IN" dirty="0"/>
          </a:p>
        </p:txBody>
      </p:sp>
    </p:spTree>
    <p:extLst>
      <p:ext uri="{BB962C8B-B14F-4D97-AF65-F5344CB8AC3E}">
        <p14:creationId xmlns:p14="http://schemas.microsoft.com/office/powerpoint/2010/main" val="9445245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BA042-DEF5-AC01-5F07-84007E450174}"/>
              </a:ext>
            </a:extLst>
          </p:cNvPr>
          <p:cNvSpPr>
            <a:spLocks noGrp="1"/>
          </p:cNvSpPr>
          <p:nvPr>
            <p:ph type="title"/>
          </p:nvPr>
        </p:nvSpPr>
        <p:spPr/>
        <p:txBody>
          <a:bodyPr/>
          <a:lstStyle/>
          <a:p>
            <a:pPr algn="ctr"/>
            <a:r>
              <a:rPr lang="en-IN" dirty="0"/>
              <a:t>Business Problem</a:t>
            </a:r>
          </a:p>
        </p:txBody>
      </p:sp>
      <p:sp>
        <p:nvSpPr>
          <p:cNvPr id="3" name="Content Placeholder 2">
            <a:extLst>
              <a:ext uri="{FF2B5EF4-FFF2-40B4-BE49-F238E27FC236}">
                <a16:creationId xmlns:a16="http://schemas.microsoft.com/office/drawing/2014/main" id="{CD4C8099-A345-9216-9F69-BAF1A526B202}"/>
              </a:ext>
            </a:extLst>
          </p:cNvPr>
          <p:cNvSpPr>
            <a:spLocks noGrp="1"/>
          </p:cNvSpPr>
          <p:nvPr>
            <p:ph idx="1"/>
          </p:nvPr>
        </p:nvSpPr>
        <p:spPr>
          <a:xfrm>
            <a:off x="838200" y="2563045"/>
            <a:ext cx="10515600" cy="1478013"/>
          </a:xfrm>
        </p:spPr>
        <p:txBody>
          <a:bodyPr/>
          <a:lstStyle/>
          <a:p>
            <a:pPr marL="0" indent="0">
              <a:buNone/>
            </a:pPr>
            <a:r>
              <a:rPr lang="en-US" sz="2400" dirty="0">
                <a:effectLst/>
                <a:latin typeface="Arial" panose="020B0604020202020204" pitchFamily="34" charset="0"/>
                <a:ea typeface="DM Sans" pitchFamily="2" charset="0"/>
                <a:cs typeface="Arial" panose="020B0604020202020204" pitchFamily="34" charset="0"/>
              </a:rPr>
              <a:t>The retail company wants to analyze its historical sales data to understand product performance, regional sales trends, and customer purchasing behavior in order to improve profitability and support better business decisions.</a:t>
            </a:r>
            <a:endParaRPr lang="en-IN" sz="2400" dirty="0">
              <a:effectLst/>
              <a:latin typeface="Arial" panose="020B0604020202020204" pitchFamily="34" charset="0"/>
              <a:ea typeface="Calibri" panose="020F0502020204030204" pitchFamily="34" charset="0"/>
              <a:cs typeface="Arial" panose="020B0604020202020204" pitchFamily="34" charset="0"/>
            </a:endParaRPr>
          </a:p>
          <a:p>
            <a:pPr marL="0" indent="0">
              <a:buNone/>
            </a:pPr>
            <a:endParaRPr lang="en-IN" dirty="0"/>
          </a:p>
        </p:txBody>
      </p:sp>
    </p:spTree>
    <p:extLst>
      <p:ext uri="{BB962C8B-B14F-4D97-AF65-F5344CB8AC3E}">
        <p14:creationId xmlns:p14="http://schemas.microsoft.com/office/powerpoint/2010/main" val="39391345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1E91672-A7D3-2896-2D6F-1576FE69D674}"/>
              </a:ext>
            </a:extLst>
          </p:cNvPr>
          <p:cNvSpPr/>
          <p:nvPr/>
        </p:nvSpPr>
        <p:spPr>
          <a:xfrm>
            <a:off x="602121" y="356870"/>
            <a:ext cx="2138727" cy="923330"/>
          </a:xfrm>
          <a:prstGeom prst="rect">
            <a:avLst/>
          </a:prstGeom>
          <a:noFill/>
        </p:spPr>
        <p:txBody>
          <a:bodyPr wrap="none" lIns="91440" tIns="45720" rIns="91440" bIns="45720">
            <a:spAutoFit/>
          </a:bodyPr>
          <a:lstStyle/>
          <a:p>
            <a:pPr algn="ctr"/>
            <a:r>
              <a:rPr lang="en-US" sz="5400" dirty="0">
                <a:ln w="0"/>
                <a:solidFill>
                  <a:schemeClr val="accent1"/>
                </a:solidFill>
                <a:effectLst>
                  <a:outerShdw blurRad="38100" dist="25400" dir="5400000" algn="ctr" rotWithShape="0">
                    <a:srgbClr val="6E747A">
                      <a:alpha val="43000"/>
                    </a:srgbClr>
                  </a:outerShdw>
                </a:effectLst>
              </a:rPr>
              <a:t>Goals:</a:t>
            </a:r>
          </a:p>
        </p:txBody>
      </p:sp>
      <p:sp>
        <p:nvSpPr>
          <p:cNvPr id="5" name="TextBox 4">
            <a:extLst>
              <a:ext uri="{FF2B5EF4-FFF2-40B4-BE49-F238E27FC236}">
                <a16:creationId xmlns:a16="http://schemas.microsoft.com/office/drawing/2014/main" id="{22403FB8-122E-F554-4C96-E27F6BCBB284}"/>
              </a:ext>
            </a:extLst>
          </p:cNvPr>
          <p:cNvSpPr txBox="1"/>
          <p:nvPr/>
        </p:nvSpPr>
        <p:spPr>
          <a:xfrm>
            <a:off x="2020529" y="1917291"/>
            <a:ext cx="7313220" cy="1938992"/>
          </a:xfrm>
          <a:prstGeom prst="rect">
            <a:avLst/>
          </a:prstGeom>
          <a:noFill/>
        </p:spPr>
        <p:txBody>
          <a:bodyPr wrap="none" rtlCol="0">
            <a:spAutoFit/>
          </a:bodyPr>
          <a:lstStyle/>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Analyze overall sales and profit performance</a:t>
            </a: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Identify high and low performing products</a:t>
            </a:r>
          </a:p>
          <a:p>
            <a:pPr marL="342900" indent="-342900">
              <a:buFont typeface="Arial" panose="020B0604020202020204" pitchFamily="34" charset="0"/>
              <a:buChar char="•"/>
            </a:pPr>
            <a:r>
              <a:rPr lang="en-US" sz="2400" dirty="0">
                <a:effectLst/>
                <a:latin typeface="Arial" panose="020B0604020202020204" pitchFamily="34" charset="0"/>
                <a:ea typeface="DM Sans" pitchFamily="2" charset="0"/>
                <a:cs typeface="Arial" panose="020B0604020202020204" pitchFamily="34" charset="0"/>
              </a:rPr>
              <a:t>Understand customer purchasing behavior</a:t>
            </a:r>
            <a:endParaRPr 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Identify key drivers of low profitability</a:t>
            </a:r>
          </a:p>
          <a:p>
            <a:pPr marL="342900" indent="-342900">
              <a:buFont typeface="Arial" panose="020B0604020202020204" pitchFamily="34" charset="0"/>
              <a:buChar char="•"/>
            </a:pPr>
            <a:r>
              <a:rPr lang="en-IN" sz="2400" dirty="0">
                <a:latin typeface="Arial" panose="020B0604020202020204" pitchFamily="34" charset="0"/>
                <a:cs typeface="Arial" panose="020B0604020202020204" pitchFamily="34" charset="0"/>
              </a:rPr>
              <a:t>Provide actionable, data-driven recommendations</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018200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861F6-DB0E-289A-F7CD-272DB8DE25BD}"/>
              </a:ext>
            </a:extLst>
          </p:cNvPr>
          <p:cNvSpPr>
            <a:spLocks noGrp="1"/>
          </p:cNvSpPr>
          <p:nvPr>
            <p:ph type="title"/>
          </p:nvPr>
        </p:nvSpPr>
        <p:spPr/>
        <p:txBody>
          <a:bodyPr/>
          <a:lstStyle/>
          <a:p>
            <a:pPr algn="ctr"/>
            <a:r>
              <a:rPr lang="en-US" dirty="0"/>
              <a:t>Dataset Overview</a:t>
            </a:r>
            <a:endParaRPr lang="en-IN" dirty="0"/>
          </a:p>
        </p:txBody>
      </p:sp>
      <p:sp>
        <p:nvSpPr>
          <p:cNvPr id="3" name="Content Placeholder 2">
            <a:extLst>
              <a:ext uri="{FF2B5EF4-FFF2-40B4-BE49-F238E27FC236}">
                <a16:creationId xmlns:a16="http://schemas.microsoft.com/office/drawing/2014/main" id="{F00D3558-CA6A-4FD2-4C6B-A338A5DE4A59}"/>
              </a:ext>
            </a:extLst>
          </p:cNvPr>
          <p:cNvSpPr>
            <a:spLocks noGrp="1"/>
          </p:cNvSpPr>
          <p:nvPr>
            <p:ph idx="1"/>
          </p:nvPr>
        </p:nvSpPr>
        <p:spPr/>
        <p:txBody>
          <a:bodyPr>
            <a:normAutofit lnSpcReduction="10000"/>
          </a:bodyPr>
          <a:lstStyle/>
          <a:p>
            <a:r>
              <a:rPr lang="en-US" dirty="0"/>
              <a:t>Source: Kaggle </a:t>
            </a:r>
            <a:r>
              <a:rPr lang="en-US" sz="2800" u="sng" dirty="0">
                <a:effectLst/>
                <a:hlinkClick r:id="rId2"/>
              </a:rPr>
              <a:t>https://www.kaggle.com/datasets/vivek468/superstore-dataset-final/code</a:t>
            </a:r>
            <a:endParaRPr lang="en-IN" sz="2400" dirty="0">
              <a:effectLst/>
              <a:latin typeface="Calibri" panose="020F0502020204030204" pitchFamily="34" charset="0"/>
              <a:ea typeface="Calibri" panose="020F0502020204030204" pitchFamily="34" charset="0"/>
            </a:endParaRPr>
          </a:p>
          <a:p>
            <a:r>
              <a:rPr lang="en-IN" dirty="0"/>
              <a:t>Time Period: 2014-2017</a:t>
            </a:r>
          </a:p>
          <a:p>
            <a:r>
              <a:rPr lang="en-IN" sz="3200" dirty="0"/>
              <a:t>Key fields:</a:t>
            </a:r>
          </a:p>
          <a:p>
            <a:pPr lvl="1"/>
            <a:r>
              <a:rPr lang="en-IN" sz="2800" dirty="0"/>
              <a:t>Sales</a:t>
            </a:r>
          </a:p>
          <a:p>
            <a:pPr lvl="1"/>
            <a:r>
              <a:rPr lang="en-IN" sz="2800" dirty="0"/>
              <a:t>Profit</a:t>
            </a:r>
          </a:p>
          <a:p>
            <a:pPr lvl="1"/>
            <a:r>
              <a:rPr lang="en-IN" sz="2800" dirty="0"/>
              <a:t>Category &amp; sub-category</a:t>
            </a:r>
          </a:p>
          <a:p>
            <a:pPr lvl="1"/>
            <a:r>
              <a:rPr lang="en-IN" sz="2800" dirty="0"/>
              <a:t>Region</a:t>
            </a:r>
          </a:p>
          <a:p>
            <a:pPr lvl="1"/>
            <a:r>
              <a:rPr lang="en-IN" sz="2800" dirty="0"/>
              <a:t>Discount</a:t>
            </a:r>
          </a:p>
          <a:p>
            <a:pPr marL="457200" lvl="1" indent="0">
              <a:buNone/>
            </a:pPr>
            <a:endParaRPr lang="en-US" sz="2800" dirty="0"/>
          </a:p>
          <a:p>
            <a:pPr lvl="3"/>
            <a:endParaRPr lang="en-IN" dirty="0"/>
          </a:p>
        </p:txBody>
      </p:sp>
    </p:spTree>
    <p:extLst>
      <p:ext uri="{BB962C8B-B14F-4D97-AF65-F5344CB8AC3E}">
        <p14:creationId xmlns:p14="http://schemas.microsoft.com/office/powerpoint/2010/main" val="16196824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31D7B-96AA-5079-72DF-DC592300F1D3}"/>
              </a:ext>
            </a:extLst>
          </p:cNvPr>
          <p:cNvSpPr>
            <a:spLocks noGrp="1"/>
          </p:cNvSpPr>
          <p:nvPr>
            <p:ph type="title"/>
          </p:nvPr>
        </p:nvSpPr>
        <p:spPr/>
        <p:txBody>
          <a:bodyPr/>
          <a:lstStyle/>
          <a:p>
            <a:pPr algn="ctr"/>
            <a:r>
              <a:rPr lang="en-US" dirty="0"/>
              <a:t>Data Cleaning</a:t>
            </a:r>
            <a:endParaRPr lang="en-IN" dirty="0"/>
          </a:p>
        </p:txBody>
      </p:sp>
      <p:sp>
        <p:nvSpPr>
          <p:cNvPr id="3" name="Content Placeholder 2">
            <a:extLst>
              <a:ext uri="{FF2B5EF4-FFF2-40B4-BE49-F238E27FC236}">
                <a16:creationId xmlns:a16="http://schemas.microsoft.com/office/drawing/2014/main" id="{A0D24F5B-1F27-1899-BC50-5CD0DFC8654E}"/>
              </a:ext>
            </a:extLst>
          </p:cNvPr>
          <p:cNvSpPr>
            <a:spLocks noGrp="1"/>
          </p:cNvSpPr>
          <p:nvPr>
            <p:ph idx="1"/>
          </p:nvPr>
        </p:nvSpPr>
        <p:spPr/>
        <p:txBody>
          <a:bodyPr/>
          <a:lstStyle/>
          <a:p>
            <a:r>
              <a:rPr lang="en-US" dirty="0"/>
              <a:t>Check for missing values (none found)</a:t>
            </a:r>
          </a:p>
          <a:p>
            <a:r>
              <a:rPr lang="en-US" dirty="0"/>
              <a:t>Duplicate check (none found)</a:t>
            </a:r>
          </a:p>
          <a:p>
            <a:r>
              <a:rPr lang="en-US" dirty="0"/>
              <a:t>Converted date fields to proper format</a:t>
            </a:r>
          </a:p>
          <a:p>
            <a:r>
              <a:rPr lang="en-US" dirty="0"/>
              <a:t>Standardized numeric columns </a:t>
            </a:r>
          </a:p>
          <a:p>
            <a:pPr lvl="1"/>
            <a:r>
              <a:rPr lang="en-US" dirty="0"/>
              <a:t>Sales</a:t>
            </a:r>
          </a:p>
          <a:p>
            <a:pPr lvl="1"/>
            <a:r>
              <a:rPr lang="en-US" dirty="0"/>
              <a:t>Profit</a:t>
            </a:r>
          </a:p>
          <a:p>
            <a:pPr lvl="1"/>
            <a:r>
              <a:rPr lang="en-US" dirty="0"/>
              <a:t>Discount</a:t>
            </a:r>
            <a:endParaRPr lang="en-IN" dirty="0"/>
          </a:p>
        </p:txBody>
      </p:sp>
    </p:spTree>
    <p:extLst>
      <p:ext uri="{BB962C8B-B14F-4D97-AF65-F5344CB8AC3E}">
        <p14:creationId xmlns:p14="http://schemas.microsoft.com/office/powerpoint/2010/main" val="13350003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38142-EE14-0633-A31C-DCA53DBE494C}"/>
              </a:ext>
            </a:extLst>
          </p:cNvPr>
          <p:cNvSpPr>
            <a:spLocks noGrp="1"/>
          </p:cNvSpPr>
          <p:nvPr>
            <p:ph type="title"/>
          </p:nvPr>
        </p:nvSpPr>
        <p:spPr/>
        <p:txBody>
          <a:bodyPr/>
          <a:lstStyle/>
          <a:p>
            <a:r>
              <a:rPr lang="en-US" dirty="0"/>
              <a:t>KPIs</a:t>
            </a:r>
            <a:endParaRPr lang="en-IN" dirty="0"/>
          </a:p>
        </p:txBody>
      </p:sp>
      <p:sp>
        <p:nvSpPr>
          <p:cNvPr id="3" name="Content Placeholder 2">
            <a:extLst>
              <a:ext uri="{FF2B5EF4-FFF2-40B4-BE49-F238E27FC236}">
                <a16:creationId xmlns:a16="http://schemas.microsoft.com/office/drawing/2014/main" id="{871BE141-24D1-0E6A-BBA0-BD80E31561BE}"/>
              </a:ext>
            </a:extLst>
          </p:cNvPr>
          <p:cNvSpPr>
            <a:spLocks noGrp="1"/>
          </p:cNvSpPr>
          <p:nvPr>
            <p:ph idx="1"/>
          </p:nvPr>
        </p:nvSpPr>
        <p:spPr>
          <a:xfrm>
            <a:off x="838200" y="1825625"/>
            <a:ext cx="10515600" cy="3262569"/>
          </a:xfrm>
        </p:spPr>
        <p:txBody>
          <a:bodyPr>
            <a:normAutofit/>
          </a:bodyPr>
          <a:lstStyle/>
          <a:p>
            <a:r>
              <a:rPr lang="en-US" dirty="0"/>
              <a:t>Total Sales</a:t>
            </a:r>
          </a:p>
          <a:p>
            <a:r>
              <a:rPr lang="en-US" dirty="0"/>
              <a:t>Total Profit</a:t>
            </a:r>
          </a:p>
          <a:p>
            <a:r>
              <a:rPr lang="en-US" dirty="0"/>
              <a:t>Sales by Region</a:t>
            </a:r>
          </a:p>
          <a:p>
            <a:r>
              <a:rPr lang="en-US" dirty="0"/>
              <a:t>Sales by States</a:t>
            </a:r>
          </a:p>
          <a:p>
            <a:r>
              <a:rPr lang="en-US" dirty="0"/>
              <a:t>Monthly Sales Trends</a:t>
            </a:r>
          </a:p>
          <a:p>
            <a:r>
              <a:rPr lang="en-US" dirty="0"/>
              <a:t>Top Performing Products</a:t>
            </a:r>
          </a:p>
        </p:txBody>
      </p:sp>
    </p:spTree>
    <p:extLst>
      <p:ext uri="{BB962C8B-B14F-4D97-AF65-F5344CB8AC3E}">
        <p14:creationId xmlns:p14="http://schemas.microsoft.com/office/powerpoint/2010/main" val="6081224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1211D-3304-2542-0DC8-18B5B43579D8}"/>
              </a:ext>
            </a:extLst>
          </p:cNvPr>
          <p:cNvSpPr>
            <a:spLocks noGrp="1"/>
          </p:cNvSpPr>
          <p:nvPr>
            <p:ph type="title"/>
          </p:nvPr>
        </p:nvSpPr>
        <p:spPr/>
        <p:txBody>
          <a:bodyPr/>
          <a:lstStyle/>
          <a:p>
            <a:r>
              <a:rPr lang="en-US" dirty="0"/>
              <a:t>Sales Performance Overview</a:t>
            </a:r>
            <a:endParaRPr lang="en-IN" dirty="0"/>
          </a:p>
        </p:txBody>
      </p:sp>
      <p:sp>
        <p:nvSpPr>
          <p:cNvPr id="3" name="Content Placeholder 2">
            <a:extLst>
              <a:ext uri="{FF2B5EF4-FFF2-40B4-BE49-F238E27FC236}">
                <a16:creationId xmlns:a16="http://schemas.microsoft.com/office/drawing/2014/main" id="{B95AA768-FA6F-2E10-4CBA-9B6F2302D8CA}"/>
              </a:ext>
            </a:extLst>
          </p:cNvPr>
          <p:cNvSpPr>
            <a:spLocks noGrp="1"/>
          </p:cNvSpPr>
          <p:nvPr>
            <p:ph idx="1"/>
          </p:nvPr>
        </p:nvSpPr>
        <p:spPr/>
        <p:txBody>
          <a:bodyPr/>
          <a:lstStyle/>
          <a:p>
            <a:r>
              <a:rPr lang="en-US" dirty="0"/>
              <a:t>Order grew by 28%</a:t>
            </a:r>
          </a:p>
          <a:p>
            <a:r>
              <a:rPr lang="en-US" dirty="0"/>
              <a:t>Sales grew by 20%</a:t>
            </a:r>
          </a:p>
          <a:p>
            <a:r>
              <a:rPr lang="en-US" dirty="0"/>
              <a:t>Profit grew by 14%</a:t>
            </a:r>
          </a:p>
          <a:p>
            <a:r>
              <a:rPr lang="en-US" dirty="0"/>
              <a:t>West region sales touches:  $2,500,000 </a:t>
            </a:r>
          </a:p>
          <a:p>
            <a:r>
              <a:rPr lang="en-US" dirty="0"/>
              <a:t>Top 3 states:</a:t>
            </a:r>
          </a:p>
          <a:p>
            <a:pPr lvl="1"/>
            <a:r>
              <a:rPr lang="en-US" dirty="0"/>
              <a:t>California (for past 4 years)</a:t>
            </a:r>
          </a:p>
          <a:p>
            <a:pPr lvl="1"/>
            <a:r>
              <a:rPr lang="en-US" dirty="0"/>
              <a:t>New York</a:t>
            </a:r>
          </a:p>
          <a:p>
            <a:pPr lvl="1"/>
            <a:r>
              <a:rPr lang="en-US" dirty="0"/>
              <a:t>Washington</a:t>
            </a:r>
          </a:p>
        </p:txBody>
      </p:sp>
    </p:spTree>
    <p:extLst>
      <p:ext uri="{BB962C8B-B14F-4D97-AF65-F5344CB8AC3E}">
        <p14:creationId xmlns:p14="http://schemas.microsoft.com/office/powerpoint/2010/main" val="6740062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9EE5B-42EF-5B8A-D6E2-65D1BAF3CBEA}"/>
              </a:ext>
            </a:extLst>
          </p:cNvPr>
          <p:cNvSpPr>
            <a:spLocks noGrp="1"/>
          </p:cNvSpPr>
          <p:nvPr>
            <p:ph type="title"/>
          </p:nvPr>
        </p:nvSpPr>
        <p:spPr/>
        <p:txBody>
          <a:bodyPr/>
          <a:lstStyle/>
          <a:p>
            <a:r>
              <a:rPr lang="en-US" dirty="0"/>
              <a:t>Customer Purchase Overview</a:t>
            </a:r>
            <a:endParaRPr lang="en-IN" dirty="0"/>
          </a:p>
        </p:txBody>
      </p:sp>
      <p:sp>
        <p:nvSpPr>
          <p:cNvPr id="3" name="Content Placeholder 2">
            <a:extLst>
              <a:ext uri="{FF2B5EF4-FFF2-40B4-BE49-F238E27FC236}">
                <a16:creationId xmlns:a16="http://schemas.microsoft.com/office/drawing/2014/main" id="{DA2EEBD2-3710-7561-C098-DA11E666687C}"/>
              </a:ext>
            </a:extLst>
          </p:cNvPr>
          <p:cNvSpPr>
            <a:spLocks noGrp="1"/>
          </p:cNvSpPr>
          <p:nvPr>
            <p:ph idx="1"/>
          </p:nvPr>
        </p:nvSpPr>
        <p:spPr/>
        <p:txBody>
          <a:bodyPr/>
          <a:lstStyle/>
          <a:p>
            <a:r>
              <a:rPr lang="en-US" dirty="0"/>
              <a:t>Among all three customer segments orders and average spending has shown steady growth. </a:t>
            </a:r>
          </a:p>
          <a:p>
            <a:r>
              <a:rPr lang="en-US" dirty="0"/>
              <a:t>Office supplies continue to be highest profit contributors.</a:t>
            </a:r>
          </a:p>
          <a:p>
            <a:r>
              <a:rPr lang="en-US" dirty="0"/>
              <a:t>Year end season continues to be the peak sales period. </a:t>
            </a:r>
            <a:endParaRPr lang="en-IN" dirty="0"/>
          </a:p>
        </p:txBody>
      </p:sp>
      <p:pic>
        <p:nvPicPr>
          <p:cNvPr id="8" name="Picture 7">
            <a:extLst>
              <a:ext uri="{FF2B5EF4-FFF2-40B4-BE49-F238E27FC236}">
                <a16:creationId xmlns:a16="http://schemas.microsoft.com/office/drawing/2014/main" id="{1FAEE1F6-4127-6D14-F710-8C8EDD54C8B1}"/>
              </a:ext>
            </a:extLst>
          </p:cNvPr>
          <p:cNvPicPr>
            <a:picLocks noChangeAspect="1"/>
          </p:cNvPicPr>
          <p:nvPr/>
        </p:nvPicPr>
        <p:blipFill>
          <a:blip r:embed="rId2"/>
          <a:stretch>
            <a:fillRect/>
          </a:stretch>
        </p:blipFill>
        <p:spPr>
          <a:xfrm>
            <a:off x="2766165" y="4133620"/>
            <a:ext cx="6659670" cy="2175669"/>
          </a:xfrm>
          <a:prstGeom prst="rect">
            <a:avLst/>
          </a:prstGeom>
        </p:spPr>
      </p:pic>
    </p:spTree>
    <p:extLst>
      <p:ext uri="{BB962C8B-B14F-4D97-AF65-F5344CB8AC3E}">
        <p14:creationId xmlns:p14="http://schemas.microsoft.com/office/powerpoint/2010/main" val="2060399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32D33-CD00-F133-18B2-C383ABD58570}"/>
              </a:ext>
            </a:extLst>
          </p:cNvPr>
          <p:cNvSpPr>
            <a:spLocks noGrp="1"/>
          </p:cNvSpPr>
          <p:nvPr>
            <p:ph type="title"/>
          </p:nvPr>
        </p:nvSpPr>
        <p:spPr>
          <a:xfrm>
            <a:off x="838200" y="0"/>
            <a:ext cx="10515600" cy="1325563"/>
          </a:xfrm>
        </p:spPr>
        <p:txBody>
          <a:bodyPr/>
          <a:lstStyle/>
          <a:p>
            <a:pPr algn="ctr"/>
            <a:r>
              <a:rPr lang="en-US" dirty="0"/>
              <a:t>Category Wise Analysis</a:t>
            </a:r>
            <a:endParaRPr lang="en-IN" dirty="0"/>
          </a:p>
        </p:txBody>
      </p:sp>
      <p:sp>
        <p:nvSpPr>
          <p:cNvPr id="3" name="Content Placeholder 2">
            <a:extLst>
              <a:ext uri="{FF2B5EF4-FFF2-40B4-BE49-F238E27FC236}">
                <a16:creationId xmlns:a16="http://schemas.microsoft.com/office/drawing/2014/main" id="{3B64B069-0843-B780-E009-F656502E10BD}"/>
              </a:ext>
            </a:extLst>
          </p:cNvPr>
          <p:cNvSpPr>
            <a:spLocks noGrp="1"/>
          </p:cNvSpPr>
          <p:nvPr>
            <p:ph idx="1"/>
          </p:nvPr>
        </p:nvSpPr>
        <p:spPr>
          <a:xfrm>
            <a:off x="7024074" y="2034382"/>
            <a:ext cx="4928418" cy="4087095"/>
          </a:xfrm>
        </p:spPr>
        <p:txBody>
          <a:bodyPr/>
          <a:lstStyle/>
          <a:p>
            <a:pPr marL="0" indent="0">
              <a:buNone/>
            </a:pPr>
            <a:r>
              <a:rPr lang="en-US" dirty="0"/>
              <a:t>Most Profitable: Technology</a:t>
            </a:r>
          </a:p>
          <a:p>
            <a:pPr marL="0" indent="0">
              <a:buNone/>
            </a:pPr>
            <a:r>
              <a:rPr lang="en-US" dirty="0"/>
              <a:t>Least Profit:          Furniture</a:t>
            </a:r>
          </a:p>
          <a:p>
            <a:pPr marL="0" indent="0">
              <a:buNone/>
            </a:pPr>
            <a:endParaRPr lang="en-US" dirty="0"/>
          </a:p>
        </p:txBody>
      </p:sp>
      <p:pic>
        <p:nvPicPr>
          <p:cNvPr id="5" name="Picture 4">
            <a:extLst>
              <a:ext uri="{FF2B5EF4-FFF2-40B4-BE49-F238E27FC236}">
                <a16:creationId xmlns:a16="http://schemas.microsoft.com/office/drawing/2014/main" id="{ABC11418-0B44-A74C-DA1F-E7EB2A9C8939}"/>
              </a:ext>
            </a:extLst>
          </p:cNvPr>
          <p:cNvPicPr>
            <a:picLocks noChangeAspect="1"/>
          </p:cNvPicPr>
          <p:nvPr/>
        </p:nvPicPr>
        <p:blipFill>
          <a:blip r:embed="rId2"/>
          <a:stretch>
            <a:fillRect/>
          </a:stretch>
        </p:blipFill>
        <p:spPr>
          <a:xfrm>
            <a:off x="239508" y="2654711"/>
            <a:ext cx="5460061" cy="2846438"/>
          </a:xfrm>
          <a:prstGeom prst="rect">
            <a:avLst/>
          </a:prstGeom>
        </p:spPr>
      </p:pic>
    </p:spTree>
    <p:extLst>
      <p:ext uri="{BB962C8B-B14F-4D97-AF65-F5344CB8AC3E}">
        <p14:creationId xmlns:p14="http://schemas.microsoft.com/office/powerpoint/2010/main" val="38304712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189E3-3711-F1BD-9BCE-03B89FE87F79}"/>
              </a:ext>
            </a:extLst>
          </p:cNvPr>
          <p:cNvSpPr>
            <a:spLocks noGrp="1"/>
          </p:cNvSpPr>
          <p:nvPr>
            <p:ph type="title"/>
          </p:nvPr>
        </p:nvSpPr>
        <p:spPr/>
        <p:txBody>
          <a:bodyPr/>
          <a:lstStyle/>
          <a:p>
            <a:pPr algn="ctr"/>
            <a:r>
              <a:rPr lang="en-IN" sz="4400" b="1" i="0" u="none" strike="noStrike" dirty="0">
                <a:solidFill>
                  <a:srgbClr val="000000"/>
                </a:solidFill>
                <a:effectLst/>
                <a:latin typeface="Aptos Narrow" panose="020B0004020202020204" pitchFamily="34" charset="0"/>
              </a:rPr>
              <a:t>Product Sub-Category</a:t>
            </a:r>
            <a:endParaRPr lang="en-IN" dirty="0"/>
          </a:p>
        </p:txBody>
      </p:sp>
      <p:sp>
        <p:nvSpPr>
          <p:cNvPr id="11" name="Content Placeholder 10">
            <a:extLst>
              <a:ext uri="{FF2B5EF4-FFF2-40B4-BE49-F238E27FC236}">
                <a16:creationId xmlns:a16="http://schemas.microsoft.com/office/drawing/2014/main" id="{D9A4471D-72E0-2AA0-FCF3-658970351F0D}"/>
              </a:ext>
            </a:extLst>
          </p:cNvPr>
          <p:cNvSpPr>
            <a:spLocks noGrp="1"/>
          </p:cNvSpPr>
          <p:nvPr>
            <p:ph sz="half" idx="2"/>
          </p:nvPr>
        </p:nvSpPr>
        <p:spPr>
          <a:xfrm>
            <a:off x="7735528" y="2141537"/>
            <a:ext cx="5181600" cy="4351338"/>
          </a:xfrm>
        </p:spPr>
        <p:txBody>
          <a:bodyPr/>
          <a:lstStyle/>
          <a:p>
            <a:r>
              <a:rPr lang="en-US" dirty="0"/>
              <a:t>Profit makers</a:t>
            </a:r>
          </a:p>
          <a:p>
            <a:pPr lvl="1"/>
            <a:r>
              <a:rPr lang="en-US" dirty="0"/>
              <a:t>Phones</a:t>
            </a:r>
          </a:p>
          <a:p>
            <a:pPr lvl="1"/>
            <a:r>
              <a:rPr lang="en-US" dirty="0"/>
              <a:t>Accessories</a:t>
            </a:r>
          </a:p>
          <a:p>
            <a:pPr lvl="1"/>
            <a:r>
              <a:rPr lang="en-IN" dirty="0"/>
              <a:t>Copiers</a:t>
            </a:r>
          </a:p>
        </p:txBody>
      </p:sp>
      <p:pic>
        <p:nvPicPr>
          <p:cNvPr id="16" name="Picture 15">
            <a:extLst>
              <a:ext uri="{FF2B5EF4-FFF2-40B4-BE49-F238E27FC236}">
                <a16:creationId xmlns:a16="http://schemas.microsoft.com/office/drawing/2014/main" id="{A6024859-F66B-D40E-8EDF-43DD48EDC24C}"/>
              </a:ext>
            </a:extLst>
          </p:cNvPr>
          <p:cNvPicPr>
            <a:picLocks noChangeAspect="1"/>
          </p:cNvPicPr>
          <p:nvPr/>
        </p:nvPicPr>
        <p:blipFill>
          <a:blip r:embed="rId2"/>
          <a:stretch>
            <a:fillRect/>
          </a:stretch>
        </p:blipFill>
        <p:spPr>
          <a:xfrm>
            <a:off x="427702" y="1690688"/>
            <a:ext cx="7088205" cy="4351338"/>
          </a:xfrm>
          <a:prstGeom prst="rect">
            <a:avLst/>
          </a:prstGeom>
        </p:spPr>
      </p:pic>
    </p:spTree>
    <p:extLst>
      <p:ext uri="{BB962C8B-B14F-4D97-AF65-F5344CB8AC3E}">
        <p14:creationId xmlns:p14="http://schemas.microsoft.com/office/powerpoint/2010/main" val="38732131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B410233-7E66-FF0B-5528-9AEAAB0566F0}"/>
              </a:ext>
            </a:extLst>
          </p:cNvPr>
          <p:cNvSpPr>
            <a:spLocks noGrp="1"/>
          </p:cNvSpPr>
          <p:nvPr>
            <p:ph type="title"/>
          </p:nvPr>
        </p:nvSpPr>
        <p:spPr/>
        <p:txBody>
          <a:bodyPr/>
          <a:lstStyle/>
          <a:p>
            <a:pPr algn="ctr"/>
            <a:r>
              <a:rPr lang="en-IN" sz="4400" b="1" i="0" u="none" strike="noStrike" dirty="0">
                <a:solidFill>
                  <a:srgbClr val="000000"/>
                </a:solidFill>
                <a:effectLst/>
                <a:latin typeface="Aptos Narrow" panose="020B0004020202020204" pitchFamily="34" charset="0"/>
              </a:rPr>
              <a:t>Loss-Making Products</a:t>
            </a:r>
            <a:endParaRPr lang="en-IN" dirty="0"/>
          </a:p>
        </p:txBody>
      </p:sp>
      <p:pic>
        <p:nvPicPr>
          <p:cNvPr id="14" name="Content Placeholder 13">
            <a:extLst>
              <a:ext uri="{FF2B5EF4-FFF2-40B4-BE49-F238E27FC236}">
                <a16:creationId xmlns:a16="http://schemas.microsoft.com/office/drawing/2014/main" id="{FF702B95-6FD7-713C-E7BC-5AD0E40FC2E3}"/>
              </a:ext>
            </a:extLst>
          </p:cNvPr>
          <p:cNvPicPr>
            <a:picLocks noGrp="1" noChangeAspect="1"/>
          </p:cNvPicPr>
          <p:nvPr>
            <p:ph sz="half" idx="1"/>
          </p:nvPr>
        </p:nvPicPr>
        <p:blipFill>
          <a:blip r:embed="rId2"/>
          <a:stretch>
            <a:fillRect/>
          </a:stretch>
        </p:blipFill>
        <p:spPr>
          <a:xfrm>
            <a:off x="685658" y="3034993"/>
            <a:ext cx="5029059" cy="2982349"/>
          </a:xfrm>
        </p:spPr>
      </p:pic>
      <p:sp>
        <p:nvSpPr>
          <p:cNvPr id="10" name="Content Placeholder 9">
            <a:extLst>
              <a:ext uri="{FF2B5EF4-FFF2-40B4-BE49-F238E27FC236}">
                <a16:creationId xmlns:a16="http://schemas.microsoft.com/office/drawing/2014/main" id="{3E845043-A826-6EA4-C0BD-05E3B8FB11FB}"/>
              </a:ext>
            </a:extLst>
          </p:cNvPr>
          <p:cNvSpPr>
            <a:spLocks noGrp="1"/>
          </p:cNvSpPr>
          <p:nvPr>
            <p:ph sz="half" idx="2"/>
          </p:nvPr>
        </p:nvSpPr>
        <p:spPr>
          <a:xfrm>
            <a:off x="6172200" y="1825625"/>
            <a:ext cx="5181600" cy="584775"/>
          </a:xfrm>
        </p:spPr>
        <p:txBody>
          <a:bodyPr>
            <a:normAutofit/>
          </a:bodyPr>
          <a:lstStyle/>
          <a:p>
            <a:pPr marL="0" indent="0" algn="ctr">
              <a:buNone/>
            </a:pPr>
            <a:r>
              <a:rPr lang="en-US" sz="3200" b="1" dirty="0"/>
              <a:t>In 2017</a:t>
            </a:r>
            <a:endParaRPr lang="en-IN" sz="3200" b="1" dirty="0"/>
          </a:p>
        </p:txBody>
      </p:sp>
      <p:sp>
        <p:nvSpPr>
          <p:cNvPr id="15" name="TextBox 14">
            <a:extLst>
              <a:ext uri="{FF2B5EF4-FFF2-40B4-BE49-F238E27FC236}">
                <a16:creationId xmlns:a16="http://schemas.microsoft.com/office/drawing/2014/main" id="{216ADC7A-5B91-F070-2D67-AFD488A0190E}"/>
              </a:ext>
            </a:extLst>
          </p:cNvPr>
          <p:cNvSpPr txBox="1"/>
          <p:nvPr/>
        </p:nvSpPr>
        <p:spPr>
          <a:xfrm>
            <a:off x="1445342" y="1825625"/>
            <a:ext cx="1903534" cy="584775"/>
          </a:xfrm>
          <a:prstGeom prst="rect">
            <a:avLst/>
          </a:prstGeom>
          <a:noFill/>
        </p:spPr>
        <p:txBody>
          <a:bodyPr wrap="none" rtlCol="0">
            <a:spAutoFit/>
          </a:bodyPr>
          <a:lstStyle/>
          <a:p>
            <a:r>
              <a:rPr lang="en-US" sz="3200" b="1" dirty="0"/>
              <a:t>OVERALL</a:t>
            </a:r>
            <a:endParaRPr lang="en-IN" sz="3200" b="1" dirty="0"/>
          </a:p>
        </p:txBody>
      </p:sp>
      <p:pic>
        <p:nvPicPr>
          <p:cNvPr id="17" name="Picture 16">
            <a:extLst>
              <a:ext uri="{FF2B5EF4-FFF2-40B4-BE49-F238E27FC236}">
                <a16:creationId xmlns:a16="http://schemas.microsoft.com/office/drawing/2014/main" id="{F7242AE7-CDBE-57AE-FE08-CFDF5A2C69B7}"/>
              </a:ext>
            </a:extLst>
          </p:cNvPr>
          <p:cNvPicPr>
            <a:picLocks noChangeAspect="1"/>
          </p:cNvPicPr>
          <p:nvPr/>
        </p:nvPicPr>
        <p:blipFill>
          <a:blip r:embed="rId3"/>
          <a:stretch>
            <a:fillRect/>
          </a:stretch>
        </p:blipFill>
        <p:spPr>
          <a:xfrm>
            <a:off x="6349181" y="3028816"/>
            <a:ext cx="4195916" cy="2976173"/>
          </a:xfrm>
          <a:prstGeom prst="rect">
            <a:avLst/>
          </a:prstGeom>
        </p:spPr>
      </p:pic>
    </p:spTree>
    <p:extLst>
      <p:ext uri="{BB962C8B-B14F-4D97-AF65-F5344CB8AC3E}">
        <p14:creationId xmlns:p14="http://schemas.microsoft.com/office/powerpoint/2010/main" val="33344694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B276D85-694A-D165-4765-B2FFCB054CFF}"/>
              </a:ext>
            </a:extLst>
          </p:cNvPr>
          <p:cNvPicPr>
            <a:picLocks noChangeAspect="1"/>
          </p:cNvPicPr>
          <p:nvPr/>
        </p:nvPicPr>
        <p:blipFill>
          <a:blip r:embed="rId2"/>
          <a:stretch>
            <a:fillRect/>
          </a:stretch>
        </p:blipFill>
        <p:spPr>
          <a:xfrm>
            <a:off x="1279421" y="602479"/>
            <a:ext cx="9633156" cy="6255520"/>
          </a:xfrm>
          <a:prstGeom prst="rect">
            <a:avLst/>
          </a:prstGeom>
        </p:spPr>
      </p:pic>
    </p:spTree>
    <p:extLst>
      <p:ext uri="{BB962C8B-B14F-4D97-AF65-F5344CB8AC3E}">
        <p14:creationId xmlns:p14="http://schemas.microsoft.com/office/powerpoint/2010/main" val="21491274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643D5EB-8FFE-BEC5-24AE-D7F4A6AD0879}"/>
              </a:ext>
            </a:extLst>
          </p:cNvPr>
          <p:cNvPicPr>
            <a:picLocks noChangeAspect="1"/>
          </p:cNvPicPr>
          <p:nvPr/>
        </p:nvPicPr>
        <p:blipFill>
          <a:blip r:embed="rId2"/>
          <a:stretch>
            <a:fillRect/>
          </a:stretch>
        </p:blipFill>
        <p:spPr>
          <a:xfrm>
            <a:off x="775254" y="594310"/>
            <a:ext cx="9710850" cy="5659005"/>
          </a:xfrm>
          <a:prstGeom prst="rect">
            <a:avLst/>
          </a:prstGeom>
        </p:spPr>
      </p:pic>
    </p:spTree>
    <p:extLst>
      <p:ext uri="{BB962C8B-B14F-4D97-AF65-F5344CB8AC3E}">
        <p14:creationId xmlns:p14="http://schemas.microsoft.com/office/powerpoint/2010/main" val="11879535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8EE77-B177-D235-90DC-0B343AC88BC3}"/>
              </a:ext>
            </a:extLst>
          </p:cNvPr>
          <p:cNvSpPr>
            <a:spLocks noGrp="1"/>
          </p:cNvSpPr>
          <p:nvPr>
            <p:ph type="title"/>
          </p:nvPr>
        </p:nvSpPr>
        <p:spPr/>
        <p:txBody>
          <a:bodyPr/>
          <a:lstStyle/>
          <a:p>
            <a:pPr algn="ctr"/>
            <a:r>
              <a:rPr lang="en-IN" dirty="0"/>
              <a:t>Discount impact</a:t>
            </a:r>
          </a:p>
        </p:txBody>
      </p:sp>
      <p:pic>
        <p:nvPicPr>
          <p:cNvPr id="4" name="Picture 3">
            <a:extLst>
              <a:ext uri="{FF2B5EF4-FFF2-40B4-BE49-F238E27FC236}">
                <a16:creationId xmlns:a16="http://schemas.microsoft.com/office/drawing/2014/main" id="{BF8E7B22-9212-47A9-CCEC-7D9C541E9EE2}"/>
              </a:ext>
            </a:extLst>
          </p:cNvPr>
          <p:cNvPicPr>
            <a:picLocks noChangeAspect="1"/>
          </p:cNvPicPr>
          <p:nvPr/>
        </p:nvPicPr>
        <p:blipFill>
          <a:blip r:embed="rId2"/>
          <a:stretch>
            <a:fillRect/>
          </a:stretch>
        </p:blipFill>
        <p:spPr>
          <a:xfrm>
            <a:off x="384379" y="1690688"/>
            <a:ext cx="4199631" cy="4802187"/>
          </a:xfrm>
          <a:prstGeom prst="rect">
            <a:avLst/>
          </a:prstGeom>
        </p:spPr>
      </p:pic>
      <p:sp>
        <p:nvSpPr>
          <p:cNvPr id="5" name="TextBox 4">
            <a:extLst>
              <a:ext uri="{FF2B5EF4-FFF2-40B4-BE49-F238E27FC236}">
                <a16:creationId xmlns:a16="http://schemas.microsoft.com/office/drawing/2014/main" id="{1B090EEC-92F9-22CF-680E-4B589F19AD16}"/>
              </a:ext>
            </a:extLst>
          </p:cNvPr>
          <p:cNvSpPr txBox="1"/>
          <p:nvPr/>
        </p:nvSpPr>
        <p:spPr>
          <a:xfrm>
            <a:off x="7259864" y="2280184"/>
            <a:ext cx="3981781" cy="1384995"/>
          </a:xfrm>
          <a:prstGeom prst="rect">
            <a:avLst/>
          </a:prstGeom>
          <a:noFill/>
        </p:spPr>
        <p:txBody>
          <a:bodyPr wrap="square" rtlCol="0">
            <a:spAutoFit/>
          </a:bodyPr>
          <a:lstStyle/>
          <a:p>
            <a:pPr algn="ctr"/>
            <a:r>
              <a:rPr lang="en-US" sz="2800" b="1" dirty="0">
                <a:solidFill>
                  <a:srgbClr val="FF0000"/>
                </a:solidFill>
              </a:rPr>
              <a:t>No Profit for </a:t>
            </a:r>
          </a:p>
          <a:p>
            <a:pPr algn="ctr"/>
            <a:r>
              <a:rPr lang="en-US" sz="2800" b="1" dirty="0">
                <a:solidFill>
                  <a:srgbClr val="FF0000"/>
                </a:solidFill>
              </a:rPr>
              <a:t>Discount </a:t>
            </a:r>
          </a:p>
          <a:p>
            <a:pPr algn="ctr"/>
            <a:r>
              <a:rPr lang="en-US" sz="2800" b="1" dirty="0">
                <a:solidFill>
                  <a:srgbClr val="FF0000"/>
                </a:solidFill>
              </a:rPr>
              <a:t>of 30% &amp; above</a:t>
            </a:r>
            <a:endParaRPr lang="en-IN" sz="2800" b="1" dirty="0">
              <a:solidFill>
                <a:srgbClr val="FF0000"/>
              </a:solidFill>
            </a:endParaRPr>
          </a:p>
        </p:txBody>
      </p:sp>
    </p:spTree>
    <p:extLst>
      <p:ext uri="{BB962C8B-B14F-4D97-AF65-F5344CB8AC3E}">
        <p14:creationId xmlns:p14="http://schemas.microsoft.com/office/powerpoint/2010/main" val="10000708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0904C-956D-D270-06DC-8C6DA0959A45}"/>
              </a:ext>
            </a:extLst>
          </p:cNvPr>
          <p:cNvSpPr>
            <a:spLocks noGrp="1"/>
          </p:cNvSpPr>
          <p:nvPr>
            <p:ph type="title"/>
          </p:nvPr>
        </p:nvSpPr>
        <p:spPr>
          <a:xfrm>
            <a:off x="513736" y="2503641"/>
            <a:ext cx="10515600" cy="1325563"/>
          </a:xfrm>
        </p:spPr>
        <p:txBody>
          <a:bodyPr/>
          <a:lstStyle/>
          <a:p>
            <a:pPr algn="ctr"/>
            <a:r>
              <a:rPr lang="en-IN" dirty="0"/>
              <a:t>Strategic Business Recommendations</a:t>
            </a:r>
          </a:p>
        </p:txBody>
      </p:sp>
    </p:spTree>
    <p:extLst>
      <p:ext uri="{BB962C8B-B14F-4D97-AF65-F5344CB8AC3E}">
        <p14:creationId xmlns:p14="http://schemas.microsoft.com/office/powerpoint/2010/main" val="11600408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2092C3A-CB0C-3757-C14C-5A111CC02DDC}"/>
              </a:ext>
            </a:extLst>
          </p:cNvPr>
          <p:cNvSpPr>
            <a:spLocks noGrp="1"/>
          </p:cNvSpPr>
          <p:nvPr>
            <p:ph idx="1"/>
          </p:nvPr>
        </p:nvSpPr>
        <p:spPr>
          <a:xfrm>
            <a:off x="690716" y="911225"/>
            <a:ext cx="10515600" cy="4351338"/>
          </a:xfrm>
        </p:spPr>
        <p:txBody>
          <a:bodyPr/>
          <a:lstStyle/>
          <a:p>
            <a:r>
              <a:rPr lang="en-US" dirty="0"/>
              <a:t>Promote technology and office supplies as they generate more profit.</a:t>
            </a:r>
          </a:p>
          <a:p>
            <a:r>
              <a:rPr lang="en-US" dirty="0"/>
              <a:t>Furniture category revaluates discounting, cost structure in tables &amp; Bookcases. </a:t>
            </a:r>
            <a:endParaRPr lang="en-IN" dirty="0"/>
          </a:p>
          <a:p>
            <a:r>
              <a:rPr lang="en-IN" dirty="0"/>
              <a:t>Discount offers should not exceed 30%. </a:t>
            </a:r>
          </a:p>
          <a:p>
            <a:r>
              <a:rPr lang="en-IN" dirty="0"/>
              <a:t>Focus marketing and promotion on top performing regions and key states.</a:t>
            </a:r>
          </a:p>
          <a:p>
            <a:r>
              <a:rPr lang="en-IN" dirty="0"/>
              <a:t>Last Quarter Sales are high ensure proper inventory management can increase sales.</a:t>
            </a:r>
          </a:p>
        </p:txBody>
      </p:sp>
    </p:spTree>
    <p:extLst>
      <p:ext uri="{BB962C8B-B14F-4D97-AF65-F5344CB8AC3E}">
        <p14:creationId xmlns:p14="http://schemas.microsoft.com/office/powerpoint/2010/main" val="30318931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8B08B-6748-4FB0-957A-42D6CD88CE4A}"/>
              </a:ext>
            </a:extLst>
          </p:cNvPr>
          <p:cNvSpPr>
            <a:spLocks noGrp="1"/>
          </p:cNvSpPr>
          <p:nvPr>
            <p:ph type="title"/>
          </p:nvPr>
        </p:nvSpPr>
        <p:spPr>
          <a:xfrm>
            <a:off x="838200" y="215771"/>
            <a:ext cx="10515600" cy="1325563"/>
          </a:xfrm>
        </p:spPr>
        <p:txBody>
          <a:bodyPr/>
          <a:lstStyle/>
          <a:p>
            <a:pPr algn="ctr"/>
            <a:r>
              <a:rPr lang="en-US" dirty="0"/>
              <a:t>Opportunities</a:t>
            </a:r>
            <a:endParaRPr lang="en-IN" dirty="0"/>
          </a:p>
        </p:txBody>
      </p:sp>
      <p:sp>
        <p:nvSpPr>
          <p:cNvPr id="3" name="Content Placeholder 2">
            <a:extLst>
              <a:ext uri="{FF2B5EF4-FFF2-40B4-BE49-F238E27FC236}">
                <a16:creationId xmlns:a16="http://schemas.microsoft.com/office/drawing/2014/main" id="{A534D523-7179-9037-F8B6-588E6BC7C745}"/>
              </a:ext>
            </a:extLst>
          </p:cNvPr>
          <p:cNvSpPr>
            <a:spLocks noGrp="1"/>
          </p:cNvSpPr>
          <p:nvPr>
            <p:ph idx="1"/>
          </p:nvPr>
        </p:nvSpPr>
        <p:spPr>
          <a:xfrm>
            <a:off x="838200" y="1825625"/>
            <a:ext cx="10515600" cy="947072"/>
          </a:xfrm>
        </p:spPr>
        <p:txBody>
          <a:bodyPr/>
          <a:lstStyle/>
          <a:p>
            <a:r>
              <a:rPr lang="en-US" dirty="0"/>
              <a:t>In Office Supplies</a:t>
            </a:r>
          </a:p>
          <a:p>
            <a:pPr lvl="1"/>
            <a:r>
              <a:rPr lang="en-US" dirty="0"/>
              <a:t> Binders, Paper sales on constant rise.</a:t>
            </a:r>
          </a:p>
        </p:txBody>
      </p:sp>
      <p:sp>
        <p:nvSpPr>
          <p:cNvPr id="4" name="Content Placeholder 2">
            <a:extLst>
              <a:ext uri="{FF2B5EF4-FFF2-40B4-BE49-F238E27FC236}">
                <a16:creationId xmlns:a16="http://schemas.microsoft.com/office/drawing/2014/main" id="{DDD2A884-0BAD-D945-4BF8-C6774685D78E}"/>
              </a:ext>
            </a:extLst>
          </p:cNvPr>
          <p:cNvSpPr txBox="1">
            <a:spLocks/>
          </p:cNvSpPr>
          <p:nvPr/>
        </p:nvSpPr>
        <p:spPr>
          <a:xfrm>
            <a:off x="838200" y="2772697"/>
            <a:ext cx="10515600" cy="9470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In Furniture </a:t>
            </a:r>
          </a:p>
          <a:p>
            <a:pPr lvl="1"/>
            <a:r>
              <a:rPr lang="en-US" dirty="0"/>
              <a:t> Chair sales on constant rise.</a:t>
            </a:r>
          </a:p>
        </p:txBody>
      </p:sp>
      <p:sp>
        <p:nvSpPr>
          <p:cNvPr id="5" name="Content Placeholder 2">
            <a:extLst>
              <a:ext uri="{FF2B5EF4-FFF2-40B4-BE49-F238E27FC236}">
                <a16:creationId xmlns:a16="http://schemas.microsoft.com/office/drawing/2014/main" id="{92816232-F9AB-9A25-AC5D-111500CD989B}"/>
              </a:ext>
            </a:extLst>
          </p:cNvPr>
          <p:cNvSpPr txBox="1">
            <a:spLocks/>
          </p:cNvSpPr>
          <p:nvPr/>
        </p:nvSpPr>
        <p:spPr>
          <a:xfrm>
            <a:off x="838200" y="3719769"/>
            <a:ext cx="10515600" cy="9470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In Technology </a:t>
            </a:r>
          </a:p>
          <a:p>
            <a:pPr lvl="1"/>
            <a:r>
              <a:rPr lang="en-US" dirty="0"/>
              <a:t> Accessories &amp; copiers sales on constant rise.</a:t>
            </a:r>
          </a:p>
        </p:txBody>
      </p:sp>
      <p:sp>
        <p:nvSpPr>
          <p:cNvPr id="6" name="Content Placeholder 2">
            <a:extLst>
              <a:ext uri="{FF2B5EF4-FFF2-40B4-BE49-F238E27FC236}">
                <a16:creationId xmlns:a16="http://schemas.microsoft.com/office/drawing/2014/main" id="{2D8FE0C2-9D68-8DD7-E3D5-C77D575E670F}"/>
              </a:ext>
            </a:extLst>
          </p:cNvPr>
          <p:cNvSpPr txBox="1">
            <a:spLocks/>
          </p:cNvSpPr>
          <p:nvPr/>
        </p:nvSpPr>
        <p:spPr>
          <a:xfrm>
            <a:off x="838200" y="5140377"/>
            <a:ext cx="10515600" cy="9470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These recommendations aim to improve profitability, optimize pricing strategies, and drive sustainable business growth.</a:t>
            </a:r>
          </a:p>
        </p:txBody>
      </p:sp>
    </p:spTree>
    <p:extLst>
      <p:ext uri="{BB962C8B-B14F-4D97-AF65-F5344CB8AC3E}">
        <p14:creationId xmlns:p14="http://schemas.microsoft.com/office/powerpoint/2010/main" val="14515016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A64E5-2261-87B0-E790-2F9D5AD91C78}"/>
              </a:ext>
            </a:extLst>
          </p:cNvPr>
          <p:cNvSpPr>
            <a:spLocks noGrp="1"/>
          </p:cNvSpPr>
          <p:nvPr>
            <p:ph type="title"/>
          </p:nvPr>
        </p:nvSpPr>
        <p:spPr/>
        <p:txBody>
          <a:bodyPr/>
          <a:lstStyle/>
          <a:p>
            <a:r>
              <a:rPr lang="en-US" dirty="0"/>
              <a:t>Appendix</a:t>
            </a:r>
            <a:endParaRPr lang="en-IN" dirty="0"/>
          </a:p>
        </p:txBody>
      </p:sp>
      <p:sp>
        <p:nvSpPr>
          <p:cNvPr id="4" name="Rectangle 1">
            <a:extLst>
              <a:ext uri="{FF2B5EF4-FFF2-40B4-BE49-F238E27FC236}">
                <a16:creationId xmlns:a16="http://schemas.microsoft.com/office/drawing/2014/main" id="{CADD4B50-A16A-E2BB-9830-ADBA81C0B278}"/>
              </a:ext>
            </a:extLst>
          </p:cNvPr>
          <p:cNvSpPr>
            <a:spLocks noGrp="1" noChangeArrowheads="1"/>
          </p:cNvSpPr>
          <p:nvPr>
            <p:ph idx="1"/>
          </p:nvPr>
        </p:nvSpPr>
        <p:spPr bwMode="auto">
          <a:xfrm>
            <a:off x="353963" y="1521407"/>
            <a:ext cx="10220632"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business has shown strong overall growth, with orders increasing by 28%, sales by 20%, and profit by 14%.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However, profit growth is slower than sales growth, indicating potential margin pressure.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West region is the top-performing region, generating approximately $2.5M in sales,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making it the key revenue contributor.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At the state level, California consistently leads in sales over the past four years, followed by New York and Washington,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indicating strong geographic concentration of revenue.</a:t>
            </a:r>
          </a:p>
        </p:txBody>
      </p:sp>
    </p:spTree>
    <p:extLst>
      <p:ext uri="{BB962C8B-B14F-4D97-AF65-F5344CB8AC3E}">
        <p14:creationId xmlns:p14="http://schemas.microsoft.com/office/powerpoint/2010/main" val="33684693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212</TotalTime>
  <Words>462</Words>
  <Application>Microsoft Office PowerPoint</Application>
  <PresentationFormat>Widescreen</PresentationFormat>
  <Paragraphs>83</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vt:lpstr>
      <vt:lpstr>Aptos Display</vt:lpstr>
      <vt:lpstr>Aptos Narrow</vt:lpstr>
      <vt:lpstr>Arial</vt:lpstr>
      <vt:lpstr>Calibri</vt:lpstr>
      <vt:lpstr>Office Theme</vt:lpstr>
      <vt:lpstr>Superstore Sales Analysis</vt:lpstr>
      <vt:lpstr>Business Problem</vt:lpstr>
      <vt:lpstr>PowerPoint Presentation</vt:lpstr>
      <vt:lpstr>Dataset Overview</vt:lpstr>
      <vt:lpstr>Data Cleaning</vt:lpstr>
      <vt:lpstr>KPIs</vt:lpstr>
      <vt:lpstr>Sales Performance Overview</vt:lpstr>
      <vt:lpstr>Customer Purchase Overview</vt:lpstr>
      <vt:lpstr>Category Wise Analysis</vt:lpstr>
      <vt:lpstr>Product Sub-Category</vt:lpstr>
      <vt:lpstr>Loss-Making Products</vt:lpstr>
      <vt:lpstr>PowerPoint Presentation</vt:lpstr>
      <vt:lpstr>PowerPoint Presentation</vt:lpstr>
      <vt:lpstr>Discount impact</vt:lpstr>
      <vt:lpstr>Strategic Business Recommendations</vt:lpstr>
      <vt:lpstr>PowerPoint Presentation</vt:lpstr>
      <vt:lpstr>Opportunities</vt:lpstr>
      <vt:lpstr>Appendix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dc:creator>
  <cp:lastModifiedBy>dell</cp:lastModifiedBy>
  <cp:revision>8</cp:revision>
  <dcterms:created xsi:type="dcterms:W3CDTF">2026-04-16T16:40:55Z</dcterms:created>
  <dcterms:modified xsi:type="dcterms:W3CDTF">2026-05-04T10:47:32Z</dcterms:modified>
</cp:coreProperties>
</file>